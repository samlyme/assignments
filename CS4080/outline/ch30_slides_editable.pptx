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30: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work in </a:t>
            </a:r>
            <a:r>
              <a:rPr>
                <a:latin typeface="Courier"/>
              </a:rPr>
              <a:t>clox</a:t>
            </a:r>
            <a:r>
              <a:rPr/>
              <a:t>: measuring, profiling, hash table probing, and NaN boxing.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Optimization starts from a working program.</a:t>
            </a:r>
          </a:p>
          <a:p>
            <a:pPr lvl="0"/>
            <a:r>
              <a:rPr/>
              <a:t>The goal is better resource use without changing behavior.</a:t>
            </a:r>
          </a:p>
          <a:p>
            <a:pPr lvl="0"/>
            <a:r>
              <a:rPr/>
              <a:t>Speed is common, but resources also include memory, startup time, storage, and bandwidth.</a:t>
            </a:r>
          </a:p>
          <a:p>
            <a:pPr lvl="0"/>
            <a:r>
              <a:rPr/>
              <a:t>Modern hardware makes performance hard to predict from intuition alone.</a:t>
            </a:r>
          </a:p>
          <a:p>
            <a:pPr lvl="0"/>
            <a:r>
              <a:rPr/>
              <a:t>Central lesson: optimize empirically.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Empirical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Choose the resource that matters.</a:t>
            </a:r>
          </a:p>
          <a:p>
            <a:pPr lvl="0" indent="-342900" marL="342900">
              <a:buAutoNum type="arabicPeriod"/>
            </a:pPr>
            <a:r>
              <a:rPr/>
              <a:t>Use benchmarks to define the workload.</a:t>
            </a:r>
          </a:p>
          <a:p>
            <a:pPr lvl="0" indent="-342900" marL="342900">
              <a:buAutoNum type="arabicPeriod"/>
            </a:pPr>
            <a:r>
              <a:rPr/>
              <a:t>Use profilers to find where time or memory goes.</a:t>
            </a:r>
          </a:p>
          <a:p>
            <a:pPr lvl="0" indent="-342900" marL="342900">
              <a:buAutoNum type="arabicPeriod"/>
            </a:pPr>
            <a:r>
              <a:rPr/>
              <a:t>Make a targeted change.</a:t>
            </a:r>
          </a:p>
          <a:p>
            <a:pPr lvl="0" indent="-342900" marL="342900">
              <a:buAutoNum type="arabicPeriod"/>
            </a:pPr>
            <a:r>
              <a:rPr/>
              <a:t>Re-measure to verify the effect.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Benchmarks are performance tests.</a:t>
            </a:r>
          </a:p>
          <a:p>
            <a:pPr lvl="0"/>
            <a:r>
              <a:rPr/>
              <a:t>They show whether an optimization helped.</a:t>
            </a:r>
          </a:p>
          <a:p>
            <a:pPr lvl="0"/>
            <a:r>
              <a:rPr/>
              <a:t>They show whether an unrelated change caused a regression.</a:t>
            </a:r>
          </a:p>
          <a:p>
            <a:pPr lvl="0"/>
            <a:r>
              <a:rPr/>
              <a:t>A benchmark suite is better than a single benchmark.</a:t>
            </a:r>
          </a:p>
          <a:p>
            <a:pPr lvl="0"/>
            <a:r>
              <a:rPr/>
              <a:t>Benchmarks are proxies for the real goal: faster user programs.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 Design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benchmark can accidentally measure the wrong thing.</a:t>
            </a:r>
          </a:p>
          <a:p>
            <a:pPr lvl="0"/>
            <a:r>
              <a:rPr/>
              <a:t>Microbenchmarks may overfit to one implementation detail.</a:t>
            </a:r>
          </a:p>
          <a:p>
            <a:pPr lvl="0"/>
            <a:r>
              <a:rPr/>
              <a:t>Results can be noisy because of caching, scheduling, CPU throttling, and OS behavior.</a:t>
            </a:r>
          </a:p>
          <a:p>
            <a:pPr lvl="0"/>
            <a:r>
              <a:rPr/>
              <a:t>Benchmark suites age as language ecosystems and workloads change.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profiler runs the VM while collecting resource-use data.</a:t>
            </a:r>
          </a:p>
          <a:p>
            <a:pPr lvl="0"/>
            <a:r>
              <a:rPr/>
              <a:t>In this chapter, the profiled program is </a:t>
            </a:r>
            <a:r>
              <a:rPr>
                <a:latin typeface="Courier"/>
              </a:rPr>
              <a:t>clox</a:t>
            </a:r>
            <a:r>
              <a:rPr/>
              <a:t> running a Lox script.</a:t>
            </a:r>
          </a:p>
          <a:p>
            <a:pPr lvl="0"/>
            <a:r>
              <a:rPr/>
              <a:t>Simple profilers show time by function.</a:t>
            </a:r>
          </a:p>
          <a:p>
            <a:pPr lvl="0"/>
            <a:r>
              <a:rPr/>
              <a:t>Advanced profilers can show cache misses, branch misses, allocations, and other hardware metrics.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Optimization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Faster hash table probing with bit masks.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Hash Tables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Dynamic-language operations often depend on hash lookup.</a:t>
            </a:r>
          </a:p>
          <a:p>
            <a:pPr lvl="0"/>
            <a:r>
              <a:rPr/>
              <a:t>Important paths include global variable access, field reads, method calls, and method invocation.</a:t>
            </a:r>
          </a:p>
          <a:p>
            <a:pPr lvl="0"/>
            <a:r>
              <a:rPr/>
              <a:t>These paths converge on </a:t>
            </a:r>
            <a:r>
              <a:rPr>
                <a:latin typeface="Courier"/>
              </a:rPr>
              <a:t>tableGet()</a:t>
            </a:r>
            <a:r>
              <a:rPr/>
              <a:t> and </a:t>
            </a:r>
            <a:r>
              <a:rPr>
                <a:latin typeface="Courier"/>
              </a:rPr>
              <a:t>findEntry()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Hotspot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run()</a:t>
            </a:r>
            <a:r>
              <a:rPr/>
              <a:t> has the largest inclusive time because it is the bytecode loop.</a:t>
            </a:r>
          </a:p>
          <a:p>
            <a:pPr lvl="0"/>
            <a:r>
              <a:rPr/>
              <a:t>Expensive instructions include </a:t>
            </a:r>
            <a:r>
              <a:rPr>
                <a:latin typeface="Courier"/>
              </a:rPr>
              <a:t>OP_GET_GLOBAL</a:t>
            </a:r>
            <a:r>
              <a:rPr/>
              <a:t>, </a:t>
            </a:r>
            <a:r>
              <a:rPr>
                <a:latin typeface="Courier"/>
              </a:rPr>
              <a:t>OP_GET_PROPERTY</a:t>
            </a:r>
            <a:r>
              <a:rPr/>
              <a:t>, and </a:t>
            </a:r>
            <a:r>
              <a:rPr>
                <a:latin typeface="Courier"/>
              </a:rPr>
              <a:t>OP_INVOKE</a:t>
            </a:r>
            <a:r>
              <a:rPr/>
              <a:t>.</a:t>
            </a:r>
          </a:p>
          <a:p>
            <a:pPr lvl="0"/>
            <a:r>
              <a:rPr/>
              <a:t>Profiling shows their real shared cost: hash table lookup.</a:t>
            </a:r>
          </a:p>
          <a:p>
            <a:pPr lvl="0"/>
            <a:r>
              <a:rPr/>
              <a:t>Before the change, </a:t>
            </a:r>
            <a:r>
              <a:rPr>
                <a:latin typeface="Courier"/>
              </a:rPr>
              <a:t>tableGet()</a:t>
            </a:r>
            <a:r>
              <a:rPr/>
              <a:t> takes roughly 72% of total benchmark time.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Slow Key Wrapping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original table lookup computes </a:t>
            </a:r>
            <a:r>
              <a:rPr>
                <a:latin typeface="Courier"/>
              </a:rPr>
              <a:t>index = hash % capacity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%</a:t>
            </a:r>
            <a:r>
              <a:rPr/>
              <a:t> wraps a hash into the valid table index range.</a:t>
            </a:r>
          </a:p>
          <a:p>
            <a:pPr lvl="0"/>
            <a:r>
              <a:rPr/>
              <a:t>Modulo and division are much slower than addition, subtraction, and bitwise operations on typical CPUs.</a:t>
            </a:r>
          </a:p>
          <a:p>
            <a:pPr lvl="0"/>
            <a:r>
              <a:rPr/>
              <a:t>The profiler identifies this as the unexpectedly expensive line.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Power-of-Two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clox</a:t>
            </a:r>
            <a:r>
              <a:rPr/>
              <a:t> table capacities are always powers of two.</a:t>
            </a:r>
          </a:p>
          <a:p>
            <a:pPr lvl="0"/>
            <a:r>
              <a:rPr/>
              <a:t>For powers of two, </a:t>
            </a:r>
            <a:r>
              <a:rPr>
                <a:latin typeface="Courier"/>
              </a:rPr>
              <a:t>hash % capacity</a:t>
            </a:r>
            <a:r>
              <a:rPr/>
              <a:t> equals </a:t>
            </a:r>
            <a:r>
              <a:rPr>
                <a:latin typeface="Courier"/>
              </a:rPr>
              <a:t>hash &amp; (capacity - 1)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capacity - 1</a:t>
            </a:r>
            <a:r>
              <a:rPr/>
              <a:t> creates a mask for the valid lower bits.</a:t>
            </a:r>
          </a:p>
          <a:p>
            <a:pPr lvl="0"/>
            <a:r>
              <a:rPr/>
              <a:t>The change applies to initial lookup and probe wraparound.</a:t>
            </a:r>
          </a:p>
          <a:p>
            <a:pPr lvl="0"/>
            <a:r>
              <a:rPr/>
              <a:t>It also applies to </a:t>
            </a:r>
            <a:r>
              <a:rPr>
                <a:latin typeface="Courier"/>
              </a:rPr>
              <a:t>tableFindString()</a:t>
            </a:r>
            <a:r>
              <a:rPr/>
              <a:t> for string interning.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Before bit masking: about 3,192 fixed-time benchmark batches.</a:t>
            </a:r>
          </a:p>
          <a:p>
            <a:pPr lvl="0"/>
            <a:r>
              <a:rPr/>
              <a:t>After bit masking: about 6,249 fixed-time benchmark batches.</a:t>
            </a:r>
          </a:p>
          <a:p>
            <a:pPr lvl="0"/>
            <a:r>
              <a:rPr/>
              <a:t>The benchmark is nearly 2x faster.</a:t>
            </a:r>
          </a:p>
          <a:p>
            <a:pPr lvl="0"/>
            <a:r>
              <a:rPr/>
              <a:t>Afterward, </a:t>
            </a:r>
            <a:r>
              <a:rPr>
                <a:latin typeface="Courier"/>
              </a:rPr>
              <a:t>tableGet()</a:t>
            </a:r>
            <a:r>
              <a:rPr/>
              <a:t> drops from about 72% to about 35% of total time.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Hash Table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code change is tiny, but the hotspot is huge.</a:t>
            </a:r>
          </a:p>
          <a:p>
            <a:pPr lvl="0"/>
            <a:r>
              <a:rPr/>
              <a:t>The win depends on a real invariant: capacities are powers of two.</a:t>
            </a:r>
          </a:p>
          <a:p>
            <a:pPr lvl="0"/>
            <a:r>
              <a:rPr/>
              <a:t>Profiling helps both find the target and confirm the fix.</a:t>
            </a:r>
          </a:p>
          <a:p>
            <a:pPr lvl="0"/>
            <a:r>
              <a:rPr/>
              <a:t>The lesson is not to remove every modulo.</a:t>
            </a:r>
          </a:p>
          <a:p>
            <a:pPr lvl="0"/>
            <a:r>
              <a:rPr/>
              <a:t>The lesson is to measure first, then optimize the line that matters.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Optimization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NaN boxing for a smaller </a:t>
            </a:r>
            <a:r>
              <a:rPr>
                <a:latin typeface="Courier"/>
              </a:rPr>
              <a:t>Value</a:t>
            </a:r>
            <a:r>
              <a:rPr/>
              <a:t> representation.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Rethink </a:t>
            </a:r>
            <a:r>
              <a:rPr>
                <a:latin typeface="Courier"/>
              </a:rPr>
              <a:t>Value</a:t>
            </a:r>
            <a:r>
              <a:rPr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Original representation: type tag plus union payload.</a:t>
            </a:r>
          </a:p>
          <a:p>
            <a:pPr lvl="0"/>
            <a:r>
              <a:rPr/>
              <a:t>On 64-bit machines, the original </a:t>
            </a:r>
            <a:r>
              <a:rPr>
                <a:latin typeface="Courier"/>
              </a:rPr>
              <a:t>Value</a:t>
            </a:r>
            <a:r>
              <a:rPr/>
              <a:t> is about 16 bytes.</a:t>
            </a:r>
          </a:p>
          <a:p>
            <a:pPr lvl="0"/>
            <a:r>
              <a:rPr/>
              <a:t>Goal: store each value in 8 bytes.</a:t>
            </a:r>
          </a:p>
          <a:p>
            <a:pPr lvl="0"/>
            <a:r>
              <a:rPr/>
              <a:t>Smaller values improve memory density.</a:t>
            </a:r>
          </a:p>
          <a:p>
            <a:pPr lvl="0"/>
            <a:r>
              <a:rPr/>
              <a:t>Better memory density can reduce cache misses.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Dynamic Language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Runtime values must carry enough information to identify their type.</a:t>
            </a:r>
          </a:p>
          <a:p>
            <a:pPr lvl="0"/>
            <a:r>
              <a:rPr/>
              <a:t>Lox numbers are C </a:t>
            </a:r>
            <a:r>
              <a:rPr>
                <a:latin typeface="Courier"/>
              </a:rPr>
              <a:t>double</a:t>
            </a:r>
            <a:r>
              <a:rPr/>
              <a:t> values, which already use 64 bits.</a:t>
            </a:r>
          </a:p>
          <a:p>
            <a:pPr lvl="0"/>
            <a:r>
              <a:rPr/>
              <a:t>The challenge is to store numbers, Booleans, </a:t>
            </a:r>
            <a:r>
              <a:rPr>
                <a:latin typeface="Courier"/>
              </a:rPr>
              <a:t>nil</a:t>
            </a:r>
            <a:r>
              <a:rPr/>
              <a:t>, and object pointers in one 64-bit representation.</a:t>
            </a:r>
          </a:p>
          <a:p>
            <a:pPr lvl="0"/>
            <a:r>
              <a:rPr/>
              <a:t>NaN boxing uses unused IEEE 754 NaN bit patterns for non-number values.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IEEE 754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double has 52 fraction bits, 11 exponent bits, and 1 sign bit.</a:t>
            </a:r>
          </a:p>
          <a:p>
            <a:pPr lvl="0"/>
            <a:r>
              <a:rPr/>
              <a:t>When all exponent bits are set, the value is special.</a:t>
            </a:r>
          </a:p>
          <a:p>
            <a:pPr lvl="0"/>
            <a:r>
              <a:rPr/>
              <a:t>Many quiet-NaN bit patterns are available.</a:t>
            </a:r>
          </a:p>
          <a:p>
            <a:pPr lvl="0"/>
            <a:r>
              <a:rPr>
                <a:latin typeface="Courier"/>
              </a:rPr>
              <a:t>clox</a:t>
            </a:r>
            <a:r>
              <a:rPr/>
              <a:t> reserves some of those patterns to encode non-number Lox values.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NaN-Boxed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Numbers use their raw 64-bit </a:t>
            </a:r>
            <a:r>
              <a:rPr>
                <a:latin typeface="Courier"/>
              </a:rPr>
              <a:t>double</a:t>
            </a:r>
            <a:r>
              <a:rPr/>
              <a:t> bits.</a:t>
            </a:r>
          </a:p>
          <a:p>
            <a:pPr lvl="0"/>
            <a:r>
              <a:rPr>
                <a:latin typeface="Courier"/>
              </a:rPr>
              <a:t>nil</a:t>
            </a:r>
            <a:r>
              <a:rPr/>
              <a:t> uses reserved quiet-NaN bits plus a small tag.</a:t>
            </a:r>
          </a:p>
          <a:p>
            <a:pPr lvl="0"/>
            <a:r>
              <a:rPr/>
              <a:t>Booleans use reserved quiet-NaN bits plus </a:t>
            </a:r>
            <a:r>
              <a:rPr>
                <a:latin typeface="Courier"/>
              </a:rPr>
              <a:t>true</a:t>
            </a:r>
            <a:r>
              <a:rPr/>
              <a:t> or </a:t>
            </a:r>
            <a:r>
              <a:rPr>
                <a:latin typeface="Courier"/>
              </a:rPr>
              <a:t>false</a:t>
            </a:r>
            <a:r>
              <a:rPr/>
              <a:t> tags.</a:t>
            </a:r>
          </a:p>
          <a:p>
            <a:pPr lvl="0"/>
            <a:r>
              <a:rPr/>
              <a:t>Objects use the sign bit, quiet-NaN bits, and pointer bits.</a:t>
            </a:r>
          </a:p>
          <a:p>
            <a:pPr lvl="0"/>
            <a:r>
              <a:rPr/>
              <a:t>Normal numbers do not need wrapping into a separate object.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NaN boxing depends on low-level floating-point and pointer assumptions.</a:t>
            </a:r>
          </a:p>
          <a:p>
            <a:pPr lvl="0"/>
            <a:r>
              <a:rPr>
                <a:latin typeface="Courier"/>
              </a:rPr>
              <a:t>clox</a:t>
            </a:r>
            <a:r>
              <a:rPr/>
              <a:t> keeps both the original tagged union and the NaN-boxed </a:t>
            </a:r>
            <a:r>
              <a:rPr>
                <a:latin typeface="Courier"/>
              </a:rPr>
              <a:t>uint64_t</a:t>
            </a:r>
            <a:r>
              <a:rPr/>
              <a:t> representation.</a:t>
            </a:r>
          </a:p>
          <a:p>
            <a:pPr lvl="0"/>
            <a:r>
              <a:rPr/>
              <a:t>A compile-time flag, </a:t>
            </a:r>
            <a:r>
              <a:rPr>
                <a:latin typeface="Courier"/>
              </a:rPr>
              <a:t>NAN_BOXING</a:t>
            </a:r>
            <a:r>
              <a:rPr/>
              <a:t>, selects the representation.</a:t>
            </a:r>
          </a:p>
          <a:p>
            <a:pPr lvl="0"/>
            <a:r>
              <a:rPr/>
              <a:t>Most VM code stays stable because it already uses value macros.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Lox number is already a C </a:t>
            </a:r>
            <a:r>
              <a:rPr>
                <a:latin typeface="Courier"/>
              </a:rPr>
              <a:t>double</a:t>
            </a:r>
            <a:r>
              <a:rPr/>
              <a:t>.</a:t>
            </a:r>
          </a:p>
          <a:p>
            <a:pPr lvl="0"/>
            <a:r>
              <a:rPr/>
              <a:t>The implementation needs to reinterpret the same bits as either </a:t>
            </a:r>
            <a:r>
              <a:rPr>
                <a:latin typeface="Courier"/>
              </a:rPr>
              <a:t>double</a:t>
            </a:r>
            <a:r>
              <a:rPr/>
              <a:t> or </a:t>
            </a:r>
            <a:r>
              <a:rPr>
                <a:latin typeface="Courier"/>
              </a:rPr>
              <a:t>uint64_t Value</a:t>
            </a:r>
            <a:r>
              <a:rPr/>
              <a:t>.</a:t>
            </a:r>
          </a:p>
          <a:p>
            <a:pPr lvl="0"/>
            <a:r>
              <a:rPr/>
              <a:t>Helper functions use </a:t>
            </a:r>
            <a:r>
              <a:rPr>
                <a:latin typeface="Courier"/>
              </a:rPr>
              <a:t>memcpy()</a:t>
            </a:r>
            <a:r>
              <a:rPr/>
              <a:t> for type punning.</a:t>
            </a:r>
          </a:p>
          <a:p>
            <a:pPr lvl="0"/>
            <a:r>
              <a:rPr/>
              <a:t>Compilers usually optimize this pattern away.</a:t>
            </a:r>
          </a:p>
          <a:p>
            <a:pPr lvl="0"/>
            <a:r>
              <a:rPr>
                <a:latin typeface="Courier"/>
              </a:rPr>
              <a:t>NUMBER_VAL</a:t>
            </a:r>
            <a:r>
              <a:rPr/>
              <a:t>, </a:t>
            </a:r>
            <a:r>
              <a:rPr>
                <a:latin typeface="Courier"/>
              </a:rPr>
              <a:t>AS_NUMBER</a:t>
            </a:r>
            <a:r>
              <a:rPr/>
              <a:t>, and </a:t>
            </a:r>
            <a:r>
              <a:rPr>
                <a:latin typeface="Courier"/>
              </a:rPr>
              <a:t>IS_NUMBER</a:t>
            </a:r>
            <a:r>
              <a:rPr/>
              <a:t> hide the representation details.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nil</a:t>
            </a:r>
            <a:r>
              <a:rPr/>
              <a:t>, </a:t>
            </a:r>
            <a:r>
              <a:rPr>
                <a:latin typeface="Courier"/>
              </a:rPr>
              <a:t>true</a:t>
            </a:r>
            <a:r>
              <a:rPr/>
              <a:t>, and </a:t>
            </a:r>
            <a:r>
              <a:rPr>
                <a:latin typeface="Courier"/>
              </a:rPr>
              <a:t>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Singleton values need only one unique bit pattern each.</a:t>
            </a:r>
          </a:p>
          <a:p>
            <a:pPr lvl="0"/>
            <a:r>
              <a:rPr>
                <a:latin typeface="Courier"/>
              </a:rPr>
              <a:t>TAG_NIL</a:t>
            </a:r>
            <a:r>
              <a:rPr/>
              <a:t>, </a:t>
            </a:r>
            <a:r>
              <a:rPr>
                <a:latin typeface="Courier"/>
              </a:rPr>
              <a:t>TAG_FALSE</a:t>
            </a:r>
            <a:r>
              <a:rPr/>
              <a:t>, and </a:t>
            </a:r>
            <a:r>
              <a:rPr>
                <a:latin typeface="Courier"/>
              </a:rPr>
              <a:t>TAG_TRUE</a:t>
            </a:r>
            <a:r>
              <a:rPr/>
              <a:t> distinguish them.</a:t>
            </a:r>
          </a:p>
          <a:p>
            <a:pPr lvl="0"/>
            <a:r>
              <a:rPr/>
              <a:t>Each singleton combines reserved quiet-NaN bits with a small tag.</a:t>
            </a:r>
          </a:p>
          <a:p>
            <a:pPr lvl="0"/>
            <a:r>
              <a:rPr>
                <a:latin typeface="Courier"/>
              </a:rPr>
              <a:t>BOOL_VAL</a:t>
            </a:r>
            <a:r>
              <a:rPr/>
              <a:t>, </a:t>
            </a:r>
            <a:r>
              <a:rPr>
                <a:latin typeface="Courier"/>
              </a:rPr>
              <a:t>AS_BOOL</a:t>
            </a:r>
            <a:r>
              <a:rPr/>
              <a:t>, and </a:t>
            </a:r>
            <a:r>
              <a:rPr>
                <a:latin typeface="Courier"/>
              </a:rPr>
              <a:t>IS_BOOL</a:t>
            </a:r>
            <a:r>
              <a:rPr/>
              <a:t> preserve the existing macro interface.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 values must encode pointer addresses.</a:t>
            </a:r>
          </a:p>
          <a:p>
            <a:pPr lvl="0"/>
            <a:r>
              <a:rPr/>
              <a:t>The implementation uses the sign bit as an object marker.</a:t>
            </a:r>
          </a:p>
          <a:p>
            <a:pPr lvl="0"/>
            <a:r>
              <a:rPr/>
              <a:t>Object values also include reserved quiet-NaN bits and low pointer bits.</a:t>
            </a:r>
          </a:p>
          <a:p>
            <a:pPr lvl="0"/>
            <a:r>
              <a:rPr>
                <a:latin typeface="Courier"/>
              </a:rPr>
              <a:t>OBJ_VAL</a:t>
            </a:r>
            <a:r>
              <a:rPr/>
              <a:t> boxes the pointer.</a:t>
            </a:r>
          </a:p>
          <a:p>
            <a:pPr lvl="0"/>
            <a:r>
              <a:rPr>
                <a:latin typeface="Courier"/>
              </a:rPr>
              <a:t>AS_OBJ</a:t>
            </a:r>
            <a:r>
              <a:rPr/>
              <a:t> masks away marker bits to recover it.</a:t>
            </a:r>
          </a:p>
          <a:p>
            <a:pPr lvl="0"/>
            <a:r>
              <a:rPr>
                <a:latin typeface="Courier"/>
              </a:rPr>
              <a:t>IS_OBJ</a:t>
            </a:r>
            <a:r>
              <a:rPr/>
              <a:t> checks both sign and quiet-NaN bits.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Value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Most code remains behind macros.</a:t>
            </a:r>
          </a:p>
          <a:p>
            <a:pPr lvl="0"/>
            <a:r>
              <a:rPr>
                <a:latin typeface="Courier"/>
              </a:rPr>
              <a:t>printValue()</a:t>
            </a:r>
            <a:r>
              <a:rPr/>
              <a:t> tests Boolean, nil, number, then object.</a:t>
            </a:r>
          </a:p>
          <a:p>
            <a:pPr lvl="0"/>
            <a:r>
              <a:rPr>
                <a:latin typeface="Courier"/>
              </a:rPr>
              <a:t>valuesEqual()</a:t>
            </a:r>
            <a:r>
              <a:rPr/>
              <a:t> can compare raw bits for most values.</a:t>
            </a:r>
          </a:p>
          <a:p>
            <a:pPr lvl="0"/>
            <a:r>
              <a:rPr/>
              <a:t>Numbers need special equality handling because IEEE 754 NaN is not equal to itself.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Evaluating NaN 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benefit is diffuse rather than one obvious hotspot.</a:t>
            </a:r>
          </a:p>
          <a:p>
            <a:pPr lvl="0"/>
            <a:r>
              <a:rPr/>
              <a:t>Expected wins: smaller values, better cache behavior, and fewer cache misses.</a:t>
            </a:r>
          </a:p>
          <a:p>
            <a:pPr lvl="0"/>
            <a:r>
              <a:rPr/>
              <a:t>Possible costs: extra bitwise operations and more complicated type checks.</a:t>
            </a:r>
          </a:p>
          <a:p>
            <a:pPr lvl="0"/>
            <a:r>
              <a:rPr/>
              <a:t>Larger benchmarks show roughly 10% speed improvement.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implementation is complete, but language work can keep going.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compile-time optimization passes.</a:t>
            </a:r>
          </a:p>
          <a:p>
            <a:pPr lvl="0"/>
            <a:r>
              <a:rPr/>
              <a:t>Add static typing.</a:t>
            </a:r>
          </a:p>
          <a:p>
            <a:pPr lvl="0"/>
            <a:r>
              <a:rPr/>
              <a:t>Study parser theory, type systems, semantics, and formal logic.</a:t>
            </a:r>
          </a:p>
          <a:p>
            <a:pPr lvl="0"/>
            <a:r>
              <a:rPr/>
              <a:t>Turn Lox into a personal language experiment.</a:t>
            </a:r>
          </a:p>
          <a:p>
            <a:pPr lvl="0"/>
            <a:r>
              <a:rPr/>
              <a:t>Build documentation, examples, libraries, and tools for real users.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End-of-Chapter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Profile the VM with multiple benchmarks and look for new hotspots.</a:t>
            </a:r>
          </a:p>
          <a:p>
            <a:pPr lvl="0"/>
            <a:r>
              <a:rPr/>
              <a:t>Implement inline storage for small strings.</a:t>
            </a:r>
          </a:p>
          <a:p>
            <a:pPr lvl="0"/>
            <a:r>
              <a:rPr/>
              <a:t>Write relevant benchmarks to evaluate small-string performance.</a:t>
            </a:r>
          </a:p>
          <a:p>
            <a:pPr lvl="0"/>
            <a:r>
              <a:rPr/>
              <a:t>Reflect on what learning approaches worked best throughout the book.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Optimization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Table index wrapping changes from </a:t>
            </a:r>
            <a:r>
              <a:rPr>
                <a:latin typeface="Courier"/>
              </a:rPr>
              <a:t>% capacity</a:t>
            </a:r>
            <a:r>
              <a:rPr/>
              <a:t> to </a:t>
            </a:r>
            <a:r>
              <a:rPr>
                <a:latin typeface="Courier"/>
              </a:rPr>
              <a:t>&amp; (capacity - 1)</a:t>
            </a:r>
            <a:r>
              <a:rPr/>
              <a:t>.</a:t>
            </a:r>
          </a:p>
          <a:p>
            <a:pPr lvl="0"/>
            <a:r>
              <a:rPr/>
              <a:t>String lookup uses the same bit-mask wrapping idea.</a:t>
            </a:r>
          </a:p>
          <a:p>
            <a:pPr lvl="0"/>
            <a:r>
              <a:rPr/>
              <a:t>Value representation changes from a 16-byte tagged union to an 8-byte NaN-boxed value.</a:t>
            </a:r>
          </a:p>
          <a:p>
            <a:pPr lvl="0"/>
            <a:r>
              <a:rPr/>
              <a:t>Equality becomes a number-aware bit comparison.</a:t>
            </a:r>
          </a:p>
          <a:p>
            <a:pPr lvl="0"/>
            <a:r>
              <a:rPr/>
              <a:t>The main benefits are faster probing and better cache behavior.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Why is profiling more reliable than guessing?</a:t>
            </a:r>
          </a:p>
          <a:p>
            <a:pPr lvl="0" indent="-342900" marL="342900">
              <a:buAutoNum type="arabicPeriod"/>
            </a:pPr>
            <a:r>
              <a:rPr/>
              <a:t>When can a benchmark measure the wrong thing?</a:t>
            </a:r>
          </a:p>
          <a:p>
            <a:pPr lvl="0" indent="-342900" marL="342900">
              <a:buAutoNum type="arabicPeriod"/>
            </a:pPr>
            <a:r>
              <a:rPr/>
              <a:t>Why does </a:t>
            </a:r>
            <a:r>
              <a:rPr>
                <a:latin typeface="Courier"/>
              </a:rPr>
              <a:t>% capacity</a:t>
            </a:r>
            <a:r>
              <a:rPr/>
              <a:t> become </a:t>
            </a:r>
            <a:r>
              <a:rPr>
                <a:latin typeface="Courier"/>
              </a:rPr>
              <a:t>&amp; (capacity - 1)</a:t>
            </a:r>
            <a:r>
              <a:rPr/>
              <a:t> only for powers of two?</a:t>
            </a:r>
          </a:p>
          <a:p>
            <a:pPr lvl="0" indent="-342900" marL="342900">
              <a:buAutoNum type="arabicPeriod"/>
            </a:pPr>
            <a:r>
              <a:rPr/>
              <a:t>Why can smaller values make a VM faster?</a:t>
            </a:r>
          </a:p>
          <a:p>
            <a:pPr lvl="0" indent="-342900" marL="342900">
              <a:buAutoNum type="arabicPeriod"/>
            </a:pPr>
            <a:r>
              <a:rPr/>
              <a:t>What portability risks come with NaN boxing?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Optimization is not cleverness first. It is measurement, evidence, and carefully tested changes.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2026-05-05T20:27:54Z</dcterms:created>
  <dcterms:modified xsi:type="dcterms:W3CDTF">2026-05-05T20:27:54Z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